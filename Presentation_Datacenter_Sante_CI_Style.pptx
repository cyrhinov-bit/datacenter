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1005840" cy="1005840"/>
          </a:xfrm>
          <a:prstGeom prst="rect">
            <a:avLst/>
          </a:prstGeom>
        </p:spPr>
      </p:pic>
      <p:pic>
        <p:nvPicPr>
          <p:cNvPr id="4" name="Picture 3" descr="logo_di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548640"/>
            <a:ext cx="3219718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2880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A87"/>
                </a:solidFill>
              </a:defRPr>
            </a:pPr>
            <a:r>
              <a:t>RÉPUBLIQUE DE CÔTE D'IVOIRE — MINISTÈRE DE LA SANTÉ</a:t>
            </a:r>
          </a:p>
          <a:p>
            <a:pPr>
              <a:spcBef>
                <a:spcPts val="1000"/>
              </a:spcBef>
              <a:defRPr sz="3200" b="1">
                <a:solidFill>
                  <a:srgbClr val="102A38"/>
                </a:solidFill>
              </a:defRPr>
            </a:pPr>
            <a:r>
              <a:t>PROCESSUS DE DIGITALISATION</a:t>
            </a:r>
          </a:p>
          <a:p>
            <a:pPr>
              <a:spcBef>
                <a:spcPts val="400"/>
              </a:spcBef>
              <a:defRPr sz="2200" b="1">
                <a:solidFill>
                  <a:srgbClr val="DC141E"/>
                </a:solidFill>
              </a:defRPr>
            </a:pPr>
            <a:r>
              <a:t>du système de santé en Côte d'Ivoire</a:t>
            </a:r>
          </a:p>
          <a:p>
            <a:br/>
            <a:pPr>
              <a:spcBef>
                <a:spcPts val="1400"/>
              </a:spcBef>
              <a:defRPr sz="1300">
                <a:solidFill>
                  <a:srgbClr val="14232D"/>
                </a:solidFill>
              </a:defRPr>
            </a:pPr>
            <a:r>
              <a:t>Présenté par : M. OUATTARA Yacouba</a:t>
            </a:r>
            <a:br/>
            <a:r>
              <a:t>Ingénieur Informaticien</a:t>
            </a:r>
            <a:br/>
            <a:r>
              <a:t>Direction de l'Informatique et de la Santé Digitale (DISD)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737360"/>
            <a:ext cx="35661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9202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02A38"/>
                </a:solidFill>
              </a:defRPr>
            </a:pPr>
            <a:r>
              <a:t>🏥  TRANSFORMATION NUMÉRIQUE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514600"/>
            <a:ext cx="3200400" cy="777240"/>
          </a:xfrm>
          <a:prstGeom prst="roundRect">
            <a:avLst/>
          </a:prstGeom>
          <a:solidFill>
            <a:srgbClr val="DC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56448" y="2596896"/>
            <a:ext cx="612648" cy="6126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2587752"/>
            <a:ext cx="21945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DATACENTER NATIONAL</a:t>
            </a:r>
          </a:p>
          <a:p>
            <a:pPr>
              <a:spcBef>
                <a:spcPts val="200"/>
              </a:spcBef>
              <a:defRPr sz="1000">
                <a:solidFill>
                  <a:srgbClr val="F0F5FA"/>
                </a:solidFill>
              </a:defRPr>
            </a:pPr>
            <a:r>
              <a:t>Haute disponibilité &amp; Sécurité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383280"/>
            <a:ext cx="3200400" cy="777240"/>
          </a:xfrm>
          <a:prstGeom prst="round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156448" y="3465576"/>
            <a:ext cx="612648" cy="6126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3456432"/>
            <a:ext cx="21945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SYSTÈMES INTÉGRÉS</a:t>
            </a:r>
          </a:p>
          <a:p>
            <a:pPr>
              <a:spcBef>
                <a:spcPts val="200"/>
              </a:spcBef>
              <a:defRPr sz="1000">
                <a:solidFill>
                  <a:srgbClr val="F0F5FA"/>
                </a:solidFill>
              </a:defRPr>
            </a:pPr>
            <a:r>
              <a:t>Interopérabilité SNIS &amp; Hôpitaux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251960"/>
            <a:ext cx="3200400" cy="777240"/>
          </a:xfrm>
          <a:prstGeom prst="roundRect">
            <a:avLst/>
          </a:prstGeom>
          <a:solidFill>
            <a:srgbClr val="3CA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56448" y="4334256"/>
            <a:ext cx="612648" cy="6126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4325112"/>
            <a:ext cx="21945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DÉCISION &amp; SOINS</a:t>
            </a:r>
          </a:p>
          <a:p>
            <a:pPr>
              <a:spcBef>
                <a:spcPts val="200"/>
              </a:spcBef>
              <a:defRPr sz="1000">
                <a:solidFill>
                  <a:srgbClr val="F0F5FA"/>
                </a:solidFill>
              </a:defRPr>
            </a:pPr>
            <a:r>
              <a:t>Pilotage par la donnée fiable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5120640"/>
            <a:ext cx="3200400" cy="777240"/>
          </a:xfrm>
          <a:prstGeom prst="roundRect">
            <a:avLst/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156448" y="5202936"/>
            <a:ext cx="612648" cy="6126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5193792"/>
            <a:ext cx="21945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GOUVERNANCE &amp; SSI</a:t>
            </a:r>
          </a:p>
          <a:p>
            <a:pPr>
              <a:spcBef>
                <a:spcPts val="200"/>
              </a:spcBef>
              <a:defRPr sz="1000">
                <a:solidFill>
                  <a:srgbClr val="F0F5FA"/>
                </a:solidFill>
              </a:defRPr>
            </a:pPr>
            <a:r>
              <a:t>Pérénnisation &amp; Confiance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713232" cy="713232"/>
          </a:xfrm>
          <a:prstGeom prst="rect">
            <a:avLst/>
          </a:prstGeom>
        </p:spPr>
      </p:pic>
      <p:pic>
        <p:nvPicPr>
          <p:cNvPr id="5" name="Picture 4" descr="logo_di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64592"/>
            <a:ext cx="2283073" cy="7132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91440"/>
            <a:ext cx="76196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7A87"/>
                </a:solidFill>
              </a:defRPr>
            </a:pPr>
            <a:r>
              <a:t>02  •  CONTEXTE STRATÉGIQUE</a:t>
            </a:r>
          </a:p>
          <a:p>
            <a:pPr algn="ctr">
              <a:defRPr sz="1700" b="1">
                <a:solidFill>
                  <a:srgbClr val="102A38"/>
                </a:solidFill>
              </a:defRPr>
            </a:pPr>
            <a:r>
              <a:t>INTRODUCTION &amp; PILIERS STRATÉGIQUES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Ministère de la Santé, de l'Hygiène Publique et de la CMU  |  Direction de l'Informatique et de la Santé Digitale (DISD)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1280160"/>
            <a:ext cx="996696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325880"/>
            <a:ext cx="97840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02A38"/>
                </a:solidFill>
              </a:defRPr>
            </a:pPr>
            <a:r>
              <a:t>« Depuis 2021, le MSHPCMU accélère l'intégration du numérique dans le Système National d'Information Sanitaire (SNIS). 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377440"/>
            <a:ext cx="4846320" cy="1645920"/>
          </a:xfrm>
          <a:prstGeom prst="roundRect">
            <a:avLst/>
          </a:prstGeom>
          <a:solidFill>
            <a:srgbClr val="DC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07008" y="2871216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450592"/>
            <a:ext cx="3794760" cy="1499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QUALITÉ DES DONNÉES</a:t>
            </a:r>
          </a:p>
          <a:p>
            <a:pPr>
              <a:spcBef>
                <a:spcPts val="200"/>
              </a:spcBef>
              <a:defRPr sz="1000">
                <a:solidFill>
                  <a:srgbClr val="F0F5FA"/>
                </a:solidFill>
              </a:defRPr>
            </a:pPr>
            <a:r>
              <a:t>Améliorer l'exhaustivité, la promptitude et la fiabilité des statistiques sanitaires.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377440"/>
            <a:ext cx="4846320" cy="1645920"/>
          </a:xfrm>
          <a:prstGeom prst="round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27648" y="2871216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450592"/>
            <a:ext cx="3794760" cy="1499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PRISE DE DÉCISION</a:t>
            </a:r>
          </a:p>
          <a:p>
            <a:pPr>
              <a:spcBef>
                <a:spcPts val="200"/>
              </a:spcBef>
              <a:defRPr sz="1000">
                <a:solidFill>
                  <a:srgbClr val="F0F5FA"/>
                </a:solidFill>
              </a:defRPr>
            </a:pPr>
            <a:r>
              <a:t>Faciliter le pilotage stratégique et opérationnel basé sur des indicateurs fiables.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297680"/>
            <a:ext cx="4846320" cy="1645920"/>
          </a:xfrm>
          <a:prstGeom prst="roundRect">
            <a:avLst/>
          </a:prstGeom>
          <a:solidFill>
            <a:srgbClr val="F5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07008" y="4791456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370832"/>
            <a:ext cx="3794760" cy="1499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PRISE EN CHARGE DES SOINS</a:t>
            </a:r>
          </a:p>
          <a:p>
            <a:pPr>
              <a:spcBef>
                <a:spcPts val="200"/>
              </a:spcBef>
              <a:defRPr sz="1000">
                <a:solidFill>
                  <a:srgbClr val="F0F5FA"/>
                </a:solidFill>
              </a:defRPr>
            </a:pPr>
            <a:r>
              <a:t>Fluidifier le parcours patient et optimiser la continuité des soins dans les centres.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297680"/>
            <a:ext cx="4846320" cy="1645920"/>
          </a:xfrm>
          <a:prstGeom prst="roundRect">
            <a:avLst/>
          </a:prstGeom>
          <a:solidFill>
            <a:srgbClr val="3CA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27648" y="4791456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370832"/>
            <a:ext cx="3794760" cy="1499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MODERNISATION DU SYSTÈME</a:t>
            </a:r>
          </a:p>
          <a:p>
            <a:pPr>
              <a:spcBef>
                <a:spcPts val="200"/>
              </a:spcBef>
              <a:defRPr sz="1000">
                <a:solidFill>
                  <a:srgbClr val="F0F5FA"/>
                </a:solidFill>
              </a:defRPr>
            </a:pPr>
            <a:r>
              <a:t>Moderniser et pérenniser durablement l'ensemble du système de santé ivoirien.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713232" cy="713232"/>
          </a:xfrm>
          <a:prstGeom prst="rect">
            <a:avLst/>
          </a:prstGeom>
        </p:spPr>
      </p:pic>
      <p:pic>
        <p:nvPicPr>
          <p:cNvPr id="5" name="Picture 4" descr="logo_di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64592"/>
            <a:ext cx="2283073" cy="7132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91440"/>
            <a:ext cx="76196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7A87"/>
                </a:solidFill>
              </a:defRPr>
            </a:pPr>
            <a:r>
              <a:t>03  •  CŒUR TECHNIQUE</a:t>
            </a:r>
          </a:p>
          <a:p>
            <a:pPr algn="ctr">
              <a:defRPr sz="1700" b="1">
                <a:solidFill>
                  <a:srgbClr val="102A38"/>
                </a:solidFill>
              </a:defRPr>
            </a:pPr>
            <a:r>
              <a:t>LE DATACENTER — HUB CENTRAL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Ministère de la Santé, de l'Hygiène Publique et de la CMU  |  Direction de l'Informatique et de la Santé Digitale (DISD)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2011680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02A38"/>
                </a:solidFill>
              </a:defRPr>
            </a:pPr>
            <a:r>
              <a:t>🖥️</a:t>
            </a:r>
            <a:br/>
            <a:r>
              <a:t>DATACENTER</a:t>
            </a:r>
          </a:p>
          <a:p>
            <a:pPr algn="ctr">
              <a:defRPr sz="1050">
                <a:solidFill>
                  <a:srgbClr val="64748B"/>
                </a:solidFill>
              </a:defRPr>
            </a:pPr>
            <a:r>
              <a:t>Cœur de Gestion des Données de Santé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371600"/>
            <a:ext cx="6126480" cy="1051560"/>
          </a:xfrm>
          <a:prstGeom prst="roundRect">
            <a:avLst/>
          </a:prstGeom>
          <a:solidFill>
            <a:srgbClr val="DC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047488" y="1568196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444752"/>
            <a:ext cx="5074920" cy="905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CENTRALISER LES DONNÉES</a:t>
            </a:r>
          </a:p>
          <a:p>
            <a:pPr>
              <a:spcBef>
                <a:spcPts val="200"/>
              </a:spcBef>
              <a:defRPr sz="1000">
                <a:solidFill>
                  <a:srgbClr val="F0F5FA"/>
                </a:solidFill>
              </a:defRPr>
            </a:pPr>
            <a:r>
              <a:t>Entrepôt unifié national mettant fin aux silos d'informations.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2560320"/>
            <a:ext cx="6126480" cy="1051560"/>
          </a:xfrm>
          <a:prstGeom prst="round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047488" y="2756916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633472"/>
            <a:ext cx="5074920" cy="905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SÉCURISER LES INFORMATIONS</a:t>
            </a:r>
          </a:p>
          <a:p>
            <a:pPr>
              <a:spcBef>
                <a:spcPts val="200"/>
              </a:spcBef>
              <a:defRPr sz="1000">
                <a:solidFill>
                  <a:srgbClr val="F0F5FA"/>
                </a:solidFill>
              </a:defRPr>
            </a:pPr>
            <a:r>
              <a:t>Confidentialité, chiffrement, haute résilience et conformité SSI.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3749039"/>
            <a:ext cx="6126480" cy="1051560"/>
          </a:xfrm>
          <a:prstGeom prst="roundRect">
            <a:avLst/>
          </a:prstGeom>
          <a:solidFill>
            <a:srgbClr val="F5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047488" y="3945635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3822191"/>
            <a:ext cx="5074920" cy="905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DÉPLOYER DES SYSTÈMES INTÉGRÉS</a:t>
            </a:r>
          </a:p>
          <a:p>
            <a:pPr>
              <a:spcBef>
                <a:spcPts val="200"/>
              </a:spcBef>
              <a:defRPr sz="1000">
                <a:solidFill>
                  <a:srgbClr val="F0F5FA"/>
                </a:solidFill>
              </a:defRPr>
            </a:pPr>
            <a:r>
              <a:t>Interopérabilité fluide entre structures sanitaires et laboratoires.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0" y="4937760"/>
            <a:ext cx="6126480" cy="1051560"/>
          </a:xfrm>
          <a:prstGeom prst="roundRect">
            <a:avLst/>
          </a:prstGeom>
          <a:solidFill>
            <a:srgbClr val="3CA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47488" y="5134356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5010912"/>
            <a:ext cx="5074920" cy="905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MODERNISER LES OUTILS DE GESTION</a:t>
            </a:r>
          </a:p>
          <a:p>
            <a:pPr>
              <a:spcBef>
                <a:spcPts val="200"/>
              </a:spcBef>
              <a:defRPr sz="1000">
                <a:solidFill>
                  <a:srgbClr val="F0F5FA"/>
                </a:solidFill>
              </a:defRPr>
            </a:pPr>
            <a:r>
              <a:t>Applications ergonomiques au service des praticiens et décideurs.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713232" cy="713232"/>
          </a:xfrm>
          <a:prstGeom prst="rect">
            <a:avLst/>
          </a:prstGeom>
        </p:spPr>
      </p:pic>
      <p:pic>
        <p:nvPicPr>
          <p:cNvPr id="5" name="Picture 4" descr="logo_di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64592"/>
            <a:ext cx="2283073" cy="7132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91440"/>
            <a:ext cx="76196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7A87"/>
                </a:solidFill>
              </a:defRPr>
            </a:pPr>
            <a:r>
              <a:t>04  •  VISION SECTORIELLE</a:t>
            </a:r>
          </a:p>
          <a:p>
            <a:pPr algn="ctr">
              <a:defRPr sz="1700" b="1">
                <a:solidFill>
                  <a:srgbClr val="102A38"/>
                </a:solidFill>
              </a:defRPr>
            </a:pPr>
            <a:r>
              <a:t>POLITIQUE DE DIGITALISATION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Ministère de la Santé, de l'Hygiène Publique et de la CMU  |  Direction de l'Informatique et de la Santé Digitale (DISD)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3291840" cy="1051560"/>
          </a:xfrm>
          <a:prstGeom prst="roundRect">
            <a:avLst/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41248" y="1476756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353312"/>
            <a:ext cx="2240280" cy="905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ADMINISTRATION</a:t>
            </a:r>
          </a:p>
          <a:p>
            <a:pPr>
              <a:spcBef>
                <a:spcPts val="200"/>
              </a:spcBef>
              <a:defRPr sz="1000">
                <a:solidFill>
                  <a:srgbClr val="F0F5FA"/>
                </a:solidFill>
              </a:defRPr>
            </a:pPr>
            <a:r>
              <a:t>Pilotage RH, finances &amp; gouvernance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80160"/>
            <a:ext cx="338328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1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C141E"/>
                </a:solidFill>
              </a:defRPr>
            </a:pPr>
            <a:r>
              <a:t>🌐  DIGITALISATION</a:t>
            </a:r>
            <a:br/>
            <a:r>
              <a:t>Convergence Stratégique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280160"/>
            <a:ext cx="3291840" cy="1051560"/>
          </a:xfrm>
          <a:prstGeom prst="round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47888" y="1476756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1353312"/>
            <a:ext cx="2240280" cy="905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OFFRE DE SOINS</a:t>
            </a:r>
          </a:p>
          <a:p>
            <a:pPr>
              <a:spcBef>
                <a:spcPts val="200"/>
              </a:spcBef>
              <a:defRPr sz="1000">
                <a:solidFill>
                  <a:srgbClr val="F0F5FA"/>
                </a:solidFill>
              </a:defRPr>
            </a:pPr>
            <a:r>
              <a:t>Hôpitaux, cliniques &amp; consultations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651760"/>
            <a:ext cx="2468880" cy="3291840"/>
          </a:xfrm>
          <a:prstGeom prst="roundRect">
            <a:avLst/>
          </a:prstGeom>
          <a:solidFill>
            <a:srgbClr val="DC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655064" y="2788920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3520440"/>
            <a:ext cx="2249424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PROJETS &amp; APPS</a:t>
            </a:r>
          </a:p>
          <a:p>
            <a:pPr algn="ctr">
              <a:spcBef>
                <a:spcPts val="400"/>
              </a:spcBef>
              <a:defRPr sz="950">
                <a:solidFill>
                  <a:srgbClr val="F0F5FA"/>
                </a:solidFill>
              </a:defRPr>
            </a:pPr>
            <a:r>
              <a:t>Déploiement des logiciels hospitaliers et applicatifs métiers.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2651760"/>
            <a:ext cx="2468880" cy="3291840"/>
          </a:xfrm>
          <a:prstGeom prst="round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98264" y="2788920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4448" y="3520440"/>
            <a:ext cx="2249424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SÉCURITÉ SI</a:t>
            </a:r>
          </a:p>
          <a:p>
            <a:pPr algn="ctr">
              <a:spcBef>
                <a:spcPts val="400"/>
              </a:spcBef>
              <a:defRPr sz="950">
                <a:solidFill>
                  <a:srgbClr val="F0F5FA"/>
                </a:solidFill>
              </a:defRPr>
            </a:pPr>
            <a:r>
              <a:t>Politique de sécurité, audits et protection des dossiers.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651760"/>
            <a:ext cx="2468880" cy="3291840"/>
          </a:xfrm>
          <a:prstGeom prst="roundRect">
            <a:avLst/>
          </a:prstGeom>
          <a:solidFill>
            <a:srgbClr val="F5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41464" y="2788920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3520440"/>
            <a:ext cx="2249424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ARCHIVAGE</a:t>
            </a:r>
          </a:p>
          <a:p>
            <a:pPr algn="ctr">
              <a:spcBef>
                <a:spcPts val="400"/>
              </a:spcBef>
              <a:defRPr sz="950">
                <a:solidFill>
                  <a:srgbClr val="F0F5FA"/>
                </a:solidFill>
              </a:defRPr>
            </a:pPr>
            <a:r>
              <a:t>Gestion électronique (GED) et traçabilité légale.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2651760"/>
            <a:ext cx="2468880" cy="3291840"/>
          </a:xfrm>
          <a:prstGeom prst="roundRect">
            <a:avLst/>
          </a:prstGeom>
          <a:solidFill>
            <a:srgbClr val="3CA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84664" y="2788920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0848" y="3520440"/>
            <a:ext cx="2249424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DONNÉES</a:t>
            </a:r>
          </a:p>
          <a:p>
            <a:pPr algn="ctr">
              <a:spcBef>
                <a:spcPts val="400"/>
              </a:spcBef>
              <a:defRPr sz="950">
                <a:solidFill>
                  <a:srgbClr val="F0F5FA"/>
                </a:solidFill>
              </a:defRPr>
            </a:pPr>
            <a:r>
              <a:t>Consolidation nationale pour un pilotage continu.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713232" cy="713232"/>
          </a:xfrm>
          <a:prstGeom prst="rect">
            <a:avLst/>
          </a:prstGeom>
        </p:spPr>
      </p:pic>
      <p:pic>
        <p:nvPicPr>
          <p:cNvPr id="5" name="Picture 4" descr="logo_di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64592"/>
            <a:ext cx="2283073" cy="7132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91440"/>
            <a:ext cx="76196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7A87"/>
                </a:solidFill>
              </a:defRPr>
            </a:pPr>
            <a:r>
              <a:t>05  •  ÉCOSYSTÈME APPLICATIF</a:t>
            </a:r>
          </a:p>
          <a:p>
            <a:pPr algn="ctr">
              <a:defRPr sz="1700" b="1">
                <a:solidFill>
                  <a:srgbClr val="102A38"/>
                </a:solidFill>
              </a:defRPr>
            </a:pPr>
            <a:r>
              <a:t>TRANSFORMATION DU SNIS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Ministère de la Santé, de l'Hygiène Publique et de la CMU  |  Direction de l'Informatique et de la Santé Digitale (DISD)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1280160"/>
            <a:ext cx="996696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02A38"/>
                </a:solidFill>
              </a:defRPr>
            </a:pPr>
            <a:r>
              <a:t>🎯 Le SNIS évolue pour rendre les données : DISPONIBLES • FIABLES • ACCESSIBLES À TEMPS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377440"/>
            <a:ext cx="9966960" cy="1143000"/>
          </a:xfrm>
          <a:prstGeom prst="roundRect">
            <a:avLst/>
          </a:prstGeom>
          <a:solidFill>
            <a:srgbClr val="DC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07008" y="2619756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450592"/>
            <a:ext cx="8915400" cy="996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DHIS2 — COLLECTE &amp; ANALYSE STATISTIQUE</a:t>
            </a:r>
          </a:p>
          <a:p>
            <a:pPr>
              <a:spcBef>
                <a:spcPts val="200"/>
              </a:spcBef>
              <a:defRPr sz="1000">
                <a:solidFill>
                  <a:srgbClr val="F0F5FA"/>
                </a:solidFill>
              </a:defRPr>
            </a:pPr>
            <a:r>
              <a:t>Agrégation globale des données sanitaires, indicateurs nationaux et tableaux de bord de santé publique.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703320"/>
            <a:ext cx="9966960" cy="1143000"/>
          </a:xfrm>
          <a:prstGeom prst="round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07008" y="3945636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776472"/>
            <a:ext cx="8915400" cy="996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SIGDEP3 — SUIVI CLINIQUE DES PATIENTS</a:t>
            </a:r>
          </a:p>
          <a:p>
            <a:pPr>
              <a:spcBef>
                <a:spcPts val="200"/>
              </a:spcBef>
              <a:defRPr sz="1000">
                <a:solidFill>
                  <a:srgbClr val="F0F5FA"/>
                </a:solidFill>
              </a:defRPr>
            </a:pPr>
            <a:r>
              <a:t>Système intégré pour le suivi médical et biologique individualisé des patients sous traitement ARV.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5029200"/>
            <a:ext cx="9966960" cy="1143000"/>
          </a:xfrm>
          <a:prstGeom prst="roundRect">
            <a:avLst/>
          </a:prstGeom>
          <a:solidFill>
            <a:srgbClr val="3CA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207008" y="5271516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102352"/>
            <a:ext cx="8915400" cy="996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OPENELIS — GESTION DES LABORATOIRES</a:t>
            </a:r>
          </a:p>
          <a:p>
            <a:pPr>
              <a:spcBef>
                <a:spcPts val="200"/>
              </a:spcBef>
              <a:defRPr sz="1000">
                <a:solidFill>
                  <a:srgbClr val="F0F5FA"/>
                </a:solidFill>
              </a:defRPr>
            </a:pPr>
            <a:r>
              <a:t>Informatisation complète des laboratoires d'analyses médicales et traçabilité des flux d'échantillons.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713232" cy="713232"/>
          </a:xfrm>
          <a:prstGeom prst="rect">
            <a:avLst/>
          </a:prstGeom>
        </p:spPr>
      </p:pic>
      <p:pic>
        <p:nvPicPr>
          <p:cNvPr id="5" name="Picture 4" descr="logo_di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64592"/>
            <a:ext cx="2283073" cy="7132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91440"/>
            <a:ext cx="76196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7A87"/>
                </a:solidFill>
              </a:defRPr>
            </a:pPr>
            <a:r>
              <a:t>06  •  COMPLÉMENTARITÉ MÉTIER</a:t>
            </a:r>
          </a:p>
          <a:p>
            <a:pPr algn="ctr">
              <a:defRPr sz="1700" b="1">
                <a:solidFill>
                  <a:srgbClr val="102A38"/>
                </a:solidFill>
              </a:defRPr>
            </a:pPr>
            <a:r>
              <a:t>AUTRES SOLUTIONS NUMÉRIQUES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Ministère de la Santé, de l'Hygiène Publique et de la CMU  |  Direction de l'Informatique et de la Santé Digitale (DISD)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463040"/>
            <a:ext cx="4937760" cy="1920240"/>
          </a:xfrm>
          <a:prstGeom prst="roundRect">
            <a:avLst/>
          </a:prstGeom>
          <a:solidFill>
            <a:srgbClr val="DC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24128" y="2093976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536192"/>
            <a:ext cx="3886200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E-SIGL</a:t>
            </a:r>
          </a:p>
          <a:p>
            <a:pPr>
              <a:spcBef>
                <a:spcPts val="200"/>
              </a:spcBef>
              <a:defRPr sz="1000">
                <a:solidFill>
                  <a:srgbClr val="F0F5FA"/>
                </a:solidFill>
              </a:defRPr>
            </a:pPr>
            <a:r>
              <a:t>Gestion logistique intégrée des pharmacies et approvisionnement en intrants stratégiques.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63040"/>
            <a:ext cx="4937760" cy="1920240"/>
          </a:xfrm>
          <a:prstGeom prst="round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19088" y="2093976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1536192"/>
            <a:ext cx="3886200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M-SUPPLY</a:t>
            </a:r>
          </a:p>
          <a:p>
            <a:pPr>
              <a:spcBef>
                <a:spcPts val="200"/>
              </a:spcBef>
              <a:defRPr sz="1000">
                <a:solidFill>
                  <a:srgbClr val="F0F5FA"/>
                </a:solidFill>
              </a:defRPr>
            </a:pPr>
            <a:r>
              <a:t>Gestion des stocks et traçabilité de la dispensation des médicaments au comptoir.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657600"/>
            <a:ext cx="4937760" cy="1920240"/>
          </a:xfrm>
          <a:prstGeom prst="roundRect">
            <a:avLst/>
          </a:prstGeom>
          <a:solidFill>
            <a:srgbClr val="F5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4128" y="4288536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30752"/>
            <a:ext cx="3886200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UPID</a:t>
            </a:r>
          </a:p>
          <a:p>
            <a:pPr>
              <a:spcBef>
                <a:spcPts val="200"/>
              </a:spcBef>
              <a:defRPr sz="1000">
                <a:solidFill>
                  <a:srgbClr val="F0F5FA"/>
                </a:solidFill>
              </a:defRPr>
            </a:pPr>
            <a:r>
              <a:t>Identifiant Unique du Patient (notamment sous ARV) pour l'unicité et le suivi longitudinal.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657600"/>
            <a:ext cx="4937760" cy="1920240"/>
          </a:xfrm>
          <a:prstGeom prst="roundRect">
            <a:avLst/>
          </a:prstGeom>
          <a:solidFill>
            <a:srgbClr val="3CA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19088" y="4288536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730752"/>
            <a:ext cx="3886200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DPI</a:t>
            </a:r>
          </a:p>
          <a:p>
            <a:pPr>
              <a:spcBef>
                <a:spcPts val="200"/>
              </a:spcBef>
              <a:defRPr sz="1000">
                <a:solidFill>
                  <a:srgbClr val="F0F5FA"/>
                </a:solidFill>
              </a:defRPr>
            </a:pPr>
            <a:r>
              <a:t>Dossier Patient Informatisé pour la continuité des soins et l'historique médical partagé.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5806440"/>
            <a:ext cx="7619695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7A87"/>
                </a:solidFill>
              </a:defRPr>
            </a:pPr>
            <a:r>
              <a:t>💡 Des solutions complémentaires au service de la transformation numérique.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713232" cy="713232"/>
          </a:xfrm>
          <a:prstGeom prst="rect">
            <a:avLst/>
          </a:prstGeom>
        </p:spPr>
      </p:pic>
      <p:pic>
        <p:nvPicPr>
          <p:cNvPr id="5" name="Picture 4" descr="logo_di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64592"/>
            <a:ext cx="2283073" cy="7132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91440"/>
            <a:ext cx="76196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7A87"/>
                </a:solidFill>
              </a:defRPr>
            </a:pPr>
            <a:r>
              <a:t>07  •  SOCLE D'INFRASTRUCTURE</a:t>
            </a:r>
          </a:p>
          <a:p>
            <a:pPr algn="ctr">
              <a:defRPr sz="1700" b="1">
                <a:solidFill>
                  <a:srgbClr val="102A38"/>
                </a:solidFill>
              </a:defRPr>
            </a:pPr>
            <a:r>
              <a:t>MISE EN ŒUVRE DU DATACENTER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Ministère de la Santé, de l'Hygiène Publique et de la CMU  |  Direction de l'Informatique et de la Santé Digitale (DISD)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1280160"/>
            <a:ext cx="996696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🖥️  INFRASTRUCTURE NATIONALE DE SANTÉ</a:t>
            </a:r>
          </a:p>
          <a:p>
            <a:pPr algn="ctr">
              <a:defRPr sz="1100">
                <a:solidFill>
                  <a:srgbClr val="14232D"/>
                </a:solidFill>
              </a:defRPr>
            </a:pPr>
            <a:r>
              <a:t>« Mettre en place une infrastructure centralisée, sécurisée et performante pour accompagner la transformation numérique du système de santé.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651760"/>
            <a:ext cx="3108960" cy="3291840"/>
          </a:xfrm>
          <a:prstGeom prst="roundRect">
            <a:avLst/>
          </a:prstGeom>
          <a:solidFill>
            <a:srgbClr val="DC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40864" y="2788920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3520440"/>
            <a:ext cx="2889504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CENTRALISÉ</a:t>
            </a:r>
          </a:p>
          <a:p>
            <a:pPr algn="ctr">
              <a:spcBef>
                <a:spcPts val="400"/>
              </a:spcBef>
              <a:defRPr sz="950">
                <a:solidFill>
                  <a:srgbClr val="F0F5FA"/>
                </a:solidFill>
              </a:defRPr>
            </a:pPr>
            <a:r>
              <a:t>Consolidation des données et mutualisation des ressources serveur.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2651760"/>
            <a:ext cx="3108960" cy="3291840"/>
          </a:xfrm>
          <a:prstGeom prst="round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769864" y="2788920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3520440"/>
            <a:ext cx="2889504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SÉCURISÉ</a:t>
            </a:r>
          </a:p>
          <a:p>
            <a:pPr algn="ctr">
              <a:spcBef>
                <a:spcPts val="400"/>
              </a:spcBef>
              <a:defRPr sz="950">
                <a:solidFill>
                  <a:srgbClr val="F0F5FA"/>
                </a:solidFill>
              </a:defRPr>
            </a:pPr>
            <a:r>
              <a:t>Protection maximale, chiffrement et haute résilience contre les sinistres.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2651760"/>
            <a:ext cx="3108960" cy="3291840"/>
          </a:xfrm>
          <a:prstGeom prst="roundRect">
            <a:avLst/>
          </a:prstGeom>
          <a:solidFill>
            <a:srgbClr val="3CA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98863" y="2788920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7" y="3520440"/>
            <a:ext cx="2889504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PERFORMANT</a:t>
            </a:r>
          </a:p>
          <a:p>
            <a:pPr algn="ctr">
              <a:spcBef>
                <a:spcPts val="400"/>
              </a:spcBef>
              <a:defRPr sz="950">
                <a:solidFill>
                  <a:srgbClr val="F0F5FA"/>
                </a:solidFill>
              </a:defRPr>
            </a:pPr>
            <a:r>
              <a:t>Temps de réponse optimaux et disponibilité continue 24/7.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713232" cy="713232"/>
          </a:xfrm>
          <a:prstGeom prst="rect">
            <a:avLst/>
          </a:prstGeom>
        </p:spPr>
      </p:pic>
      <p:pic>
        <p:nvPicPr>
          <p:cNvPr id="5" name="Picture 4" descr="logo_di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64592"/>
            <a:ext cx="2283073" cy="7132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91440"/>
            <a:ext cx="76196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7A87"/>
                </a:solidFill>
              </a:defRPr>
            </a:pPr>
            <a:r>
              <a:t>08  •  FEUILLE DE ROUTE</a:t>
            </a:r>
          </a:p>
          <a:p>
            <a:pPr algn="ctr">
              <a:defRPr sz="1700" b="1">
                <a:solidFill>
                  <a:srgbClr val="102A38"/>
                </a:solidFill>
              </a:defRPr>
            </a:pPr>
            <a:r>
              <a:t>CHRONOLOGIE DE MISE EN ŒUVRE (2021 - 2024)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Ministère de la Santé, de l'Hygiène Publique et de la CMU  |  Direction de l'Informatique et de la Santé Digitale (DISD)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2468880" cy="4206240"/>
          </a:xfrm>
          <a:prstGeom prst="roundRect">
            <a:avLst/>
          </a:prstGeom>
          <a:solidFill>
            <a:srgbClr val="DC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55064" y="1783080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14600"/>
            <a:ext cx="2249424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2021 — CADRAGE</a:t>
            </a:r>
          </a:p>
          <a:p>
            <a:pPr algn="ctr">
              <a:spcBef>
                <a:spcPts val="400"/>
              </a:spcBef>
              <a:defRPr sz="950">
                <a:solidFill>
                  <a:srgbClr val="F0F5FA"/>
                </a:solidFill>
              </a:defRPr>
            </a:pPr>
            <a:r>
              <a:t>Signature des contrats, accords de financement et passation des marchés.</a:t>
            </a:r>
          </a:p>
          <a:p>
            <a:pPr algn="ctr">
              <a:spcBef>
                <a:spcPts val="600"/>
              </a:spcBef>
              <a:defRPr sz="850" b="1">
                <a:solidFill>
                  <a:srgbClr val="FFFFFF"/>
                </a:solidFill>
              </a:defRPr>
            </a:pPr>
            <a:r>
              <a:t>PHASE : PRÉPARATION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645920"/>
            <a:ext cx="2468880" cy="4206240"/>
          </a:xfrm>
          <a:prstGeom prst="round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98264" y="1783080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2514600"/>
            <a:ext cx="2249424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2022 — TRAVAUX</a:t>
            </a:r>
          </a:p>
          <a:p>
            <a:pPr algn="ctr">
              <a:spcBef>
                <a:spcPts val="400"/>
              </a:spcBef>
              <a:defRPr sz="950">
                <a:solidFill>
                  <a:srgbClr val="F0F5FA"/>
                </a:solidFill>
              </a:defRPr>
            </a:pPr>
            <a:r>
              <a:t>Démarrage du génie civil, pose des baies serveurs et climatisation.</a:t>
            </a:r>
          </a:p>
          <a:p>
            <a:pPr algn="ctr">
              <a:spcBef>
                <a:spcPts val="600"/>
              </a:spcBef>
              <a:defRPr sz="850" b="1">
                <a:solidFill>
                  <a:srgbClr val="FFFFFF"/>
                </a:solidFill>
              </a:defRPr>
            </a:pPr>
            <a:r>
              <a:t>PHASE : RÉALISATION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2468880" cy="4206240"/>
          </a:xfrm>
          <a:prstGeom prst="roundRect">
            <a:avLst/>
          </a:prstGeom>
          <a:solidFill>
            <a:srgbClr val="F5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1783080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514600"/>
            <a:ext cx="2249424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2023 — RECETTE</a:t>
            </a:r>
          </a:p>
          <a:p>
            <a:pPr algn="ctr">
              <a:spcBef>
                <a:spcPts val="400"/>
              </a:spcBef>
              <a:defRPr sz="950">
                <a:solidFill>
                  <a:srgbClr val="F0F5FA"/>
                </a:solidFill>
              </a:defRPr>
            </a:pPr>
            <a:r>
              <a:t>Recette d'usine, tests de charge, bascule et validation sécuritaire.</a:t>
            </a:r>
          </a:p>
          <a:p>
            <a:pPr algn="ctr">
              <a:spcBef>
                <a:spcPts val="600"/>
              </a:spcBef>
              <a:defRPr sz="850" b="1">
                <a:solidFill>
                  <a:srgbClr val="FFFFFF"/>
                </a:solidFill>
              </a:defRPr>
            </a:pPr>
            <a:r>
              <a:t>PHASE : VALIDATION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645920"/>
            <a:ext cx="2468880" cy="4206240"/>
          </a:xfrm>
          <a:prstGeom prst="roundRect">
            <a:avLst/>
          </a:prstGeom>
          <a:solidFill>
            <a:srgbClr val="3CA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84664" y="1783080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0848" y="2514600"/>
            <a:ext cx="2249424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2024 — SERVICE</a:t>
            </a:r>
          </a:p>
          <a:p>
            <a:pPr algn="ctr">
              <a:spcBef>
                <a:spcPts val="400"/>
              </a:spcBef>
              <a:defRPr sz="950">
                <a:solidFill>
                  <a:srgbClr val="F0F5FA"/>
                </a:solidFill>
              </a:defRPr>
            </a:pPr>
            <a:r>
              <a:t>Réception provisoire et mise en service opérationnelle active.</a:t>
            </a:r>
          </a:p>
          <a:p>
            <a:pPr algn="ctr">
              <a:spcBef>
                <a:spcPts val="600"/>
              </a:spcBef>
              <a:defRPr sz="850" b="1">
                <a:solidFill>
                  <a:srgbClr val="FFFFFF"/>
                </a:solidFill>
              </a:defRPr>
            </a:pPr>
            <a:r>
              <a:t>PHASE : EXPLOITATION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713232" cy="713232"/>
          </a:xfrm>
          <a:prstGeom prst="rect">
            <a:avLst/>
          </a:prstGeom>
        </p:spPr>
      </p:pic>
      <p:pic>
        <p:nvPicPr>
          <p:cNvPr id="5" name="Picture 4" descr="logo_di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64592"/>
            <a:ext cx="2283073" cy="7132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91440"/>
            <a:ext cx="76196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7A87"/>
                </a:solidFill>
              </a:defRPr>
            </a:pPr>
            <a:r>
              <a:t>09  •  GALERIE VISUELLE</a:t>
            </a:r>
          </a:p>
          <a:p>
            <a:pPr algn="ctr">
              <a:defRPr sz="1700" b="1">
                <a:solidFill>
                  <a:srgbClr val="102A38"/>
                </a:solidFill>
              </a:defRPr>
            </a:pPr>
            <a:r>
              <a:t>LE DATACENTER EN IMAGES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Ministère de la Santé, de l'Hygiène Publique et de la CMU  |  Direction de l'Informatique et de la Santé Digitale (DISD)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29184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atacenter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737360"/>
            <a:ext cx="3108960" cy="243961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2960" y="4268419"/>
            <a:ext cx="3108960" cy="1492300"/>
          </a:xfrm>
          <a:prstGeom prst="roundRect">
            <a:avLst/>
          </a:prstGeom>
          <a:solidFill>
            <a:srgbClr val="DC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4763109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102A38"/>
                </a:solidFill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4304995"/>
            <a:ext cx="2331720" cy="14191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SALLE SERVEURS &amp; BAIES IT</a:t>
            </a:r>
          </a:p>
          <a:p>
            <a:pPr>
              <a:defRPr sz="850">
                <a:solidFill>
                  <a:srgbClr val="F0F5FA"/>
                </a:solidFill>
              </a:defRPr>
            </a:pPr>
            <a:r>
              <a:t>Racks haute densité Schneider/APC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45920"/>
            <a:ext cx="329184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atacenter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1737360"/>
            <a:ext cx="3108960" cy="2439619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526280" y="4268419"/>
            <a:ext cx="3108960" cy="1492300"/>
          </a:xfrm>
          <a:prstGeom prst="round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99432" y="4763109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102A38"/>
                </a:solidFill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4304995"/>
            <a:ext cx="2331720" cy="14191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ÉNERGIE &amp; GROUPES KOHLER</a:t>
            </a:r>
          </a:p>
          <a:p>
            <a:pPr>
              <a:defRPr sz="850">
                <a:solidFill>
                  <a:srgbClr val="F0F5FA"/>
                </a:solidFill>
              </a:defRPr>
            </a:pPr>
            <a:r>
              <a:t>Groupes électrogènes SDMO 165 kVA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645920"/>
            <a:ext cx="329184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datacenter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1737360"/>
            <a:ext cx="3108960" cy="2439619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229600" y="4268419"/>
            <a:ext cx="3108960" cy="1492300"/>
          </a:xfrm>
          <a:prstGeom prst="roundRect">
            <a:avLst/>
          </a:prstGeom>
          <a:solidFill>
            <a:srgbClr val="3CA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02752" y="4763109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102A38"/>
                </a:solidFill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4304995"/>
            <a:ext cx="2331720" cy="14191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SUPERVISION &amp; MONITORING</a:t>
            </a:r>
          </a:p>
          <a:p>
            <a:pPr>
              <a:defRPr sz="850">
                <a:solidFill>
                  <a:srgbClr val="F0F5FA"/>
                </a:solidFill>
              </a:defRPr>
            </a:pPr>
            <a:r>
              <a:t>Monitoring Schneider &amp; Cogitech 24/7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713232" cy="713232"/>
          </a:xfrm>
          <a:prstGeom prst="rect">
            <a:avLst/>
          </a:prstGeom>
        </p:spPr>
      </p:pic>
      <p:pic>
        <p:nvPicPr>
          <p:cNvPr id="5" name="Picture 4" descr="logo_di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64592"/>
            <a:ext cx="2283073" cy="7132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91440"/>
            <a:ext cx="76196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7A87"/>
                </a:solidFill>
              </a:defRPr>
            </a:pPr>
            <a:r>
              <a:t>10  •  SPÉCIFICATIONS ÉQUIPEMENTS</a:t>
            </a:r>
          </a:p>
          <a:p>
            <a:pPr algn="ctr">
              <a:defRPr sz="1700" b="1">
                <a:solidFill>
                  <a:srgbClr val="102A38"/>
                </a:solidFill>
              </a:defRPr>
            </a:pPr>
            <a:r>
              <a:t>INFRASTRUCTURE TECHNIQUE DU DATACENTER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Ministère de la Santé, de l'Hygiène Publique et de la CMU  |  Direction de l'Informatique et de la Santé Digitale (DISD)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29184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atacenter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737360"/>
            <a:ext cx="3108960" cy="243961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2960" y="4268419"/>
            <a:ext cx="3108960" cy="1492300"/>
          </a:xfrm>
          <a:prstGeom prst="roundRect">
            <a:avLst/>
          </a:prstGeom>
          <a:solidFill>
            <a:srgbClr val="DC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4763109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102A38"/>
                </a:solidFill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4304995"/>
            <a:ext cx="2331720" cy="14191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BAIES SERVEURS &amp; CÂBLAGE</a:t>
            </a:r>
          </a:p>
          <a:p>
            <a:pPr>
              <a:defRPr sz="850">
                <a:solidFill>
                  <a:srgbClr val="F0F5FA"/>
                </a:solidFill>
              </a:defRPr>
            </a:pPr>
            <a:r>
              <a:t>Confinement InRow &amp; serveurs SNIS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45920"/>
            <a:ext cx="329184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atacenter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1737360"/>
            <a:ext cx="3108960" cy="2439619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526280" y="4268419"/>
            <a:ext cx="3108960" cy="1492300"/>
          </a:xfrm>
          <a:prstGeom prst="round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99432" y="4763109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102A38"/>
                </a:solidFill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4304995"/>
            <a:ext cx="2331720" cy="14191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AÉRORÉFRIGÉRANTS PRÉCIS</a:t>
            </a:r>
          </a:p>
          <a:p>
            <a:pPr>
              <a:defRPr sz="850">
                <a:solidFill>
                  <a:srgbClr val="F0F5FA"/>
                </a:solidFill>
              </a:defRPr>
            </a:pPr>
            <a:r>
              <a:t>Refroidissement redondant dédié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645920"/>
            <a:ext cx="329184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datacenter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1737360"/>
            <a:ext cx="3108960" cy="2439619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229600" y="4268419"/>
            <a:ext cx="3108960" cy="1492300"/>
          </a:xfrm>
          <a:prstGeom prst="roundRect">
            <a:avLst/>
          </a:prstGeom>
          <a:solidFill>
            <a:srgbClr val="3CA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02752" y="4763109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200" b="1">
                <a:solidFill>
                  <a:srgbClr val="102A38"/>
                </a:solidFill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4304995"/>
            <a:ext cx="2331720" cy="14191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CONTINUITÉ ÉLECTRIQUE</a:t>
            </a:r>
          </a:p>
          <a:p>
            <a:pPr>
              <a:defRPr sz="850">
                <a:solidFill>
                  <a:srgbClr val="F0F5FA"/>
                </a:solidFill>
              </a:defRPr>
            </a:pPr>
            <a:r>
              <a:t>Automates de bascule &amp; secours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713232" cy="713232"/>
          </a:xfrm>
          <a:prstGeom prst="rect">
            <a:avLst/>
          </a:prstGeom>
        </p:spPr>
      </p:pic>
      <p:pic>
        <p:nvPicPr>
          <p:cNvPr id="5" name="Picture 4" descr="logo_di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64592"/>
            <a:ext cx="2283073" cy="7132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91440"/>
            <a:ext cx="76196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7A87"/>
                </a:solidFill>
              </a:defRPr>
            </a:pPr>
            <a:r>
              <a:t>11  •  VALEUR AJOUTÉE</a:t>
            </a:r>
          </a:p>
          <a:p>
            <a:pPr algn="ctr">
              <a:defRPr sz="1700" b="1">
                <a:solidFill>
                  <a:srgbClr val="102A38"/>
                </a:solidFill>
              </a:defRPr>
            </a:pPr>
            <a:r>
              <a:t>AU SERVICE DE LA SANTÉ DIGITALE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Ministère de la Santé, de l'Hygiène Publique et de la CMU  |  Direction de l'Informatique et de la Santé Digitale (DISD)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4754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atacenter_slide_11_imag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600200"/>
            <a:ext cx="4480560" cy="3017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4754880"/>
            <a:ext cx="4480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02A38"/>
                </a:solidFill>
              </a:defRPr>
            </a:pPr>
            <a:r>
              <a:t>🛡️  SOCLE DE CONFIANCE &amp; HAUTE SÉCURITÉ</a:t>
            </a:r>
          </a:p>
          <a:p>
            <a:pPr algn="ctr">
              <a:defRPr sz="950">
                <a:solidFill>
                  <a:srgbClr val="64748B"/>
                </a:solidFill>
              </a:defRPr>
            </a:pPr>
            <a:r>
              <a:t>Salle serveurs climatisée, extinction gaz inerte et contrôle d'accès sécurisé.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463040"/>
            <a:ext cx="5577840" cy="1280160"/>
          </a:xfrm>
          <a:prstGeom prst="roundRect">
            <a:avLst/>
          </a:prstGeom>
          <a:solidFill>
            <a:srgbClr val="DC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61888" y="1773936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536192"/>
            <a:ext cx="4526280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CENTRALISATION DES DONNÉES</a:t>
            </a:r>
          </a:p>
          <a:p>
            <a:pPr>
              <a:spcBef>
                <a:spcPts val="200"/>
              </a:spcBef>
              <a:defRPr sz="1000">
                <a:solidFill>
                  <a:srgbClr val="F0F5FA"/>
                </a:solidFill>
              </a:defRPr>
            </a:pPr>
            <a:r>
              <a:t>Unification complète des bases de données sanitaires nationales.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3017520"/>
            <a:ext cx="5577840" cy="1280160"/>
          </a:xfrm>
          <a:prstGeom prst="round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61888" y="3328416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090672"/>
            <a:ext cx="4526280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SÉCURISATION &amp; RÉSILIENCE</a:t>
            </a:r>
          </a:p>
          <a:p>
            <a:pPr>
              <a:spcBef>
                <a:spcPts val="200"/>
              </a:spcBef>
              <a:defRPr sz="1000">
                <a:solidFill>
                  <a:srgbClr val="F0F5FA"/>
                </a:solidFill>
              </a:defRPr>
            </a:pPr>
            <a:r>
              <a:t>Chiffrement et conformité stricte aux exigences de cybersécurité.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4572000"/>
            <a:ext cx="5577840" cy="1280160"/>
          </a:xfrm>
          <a:prstGeom prst="roundRect">
            <a:avLst/>
          </a:prstGeom>
          <a:solidFill>
            <a:srgbClr val="3CA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61888" y="4882896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645152"/>
            <a:ext cx="4526280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PERFORMANCE &amp; DISPONIBILITÉ</a:t>
            </a:r>
          </a:p>
          <a:p>
            <a:pPr>
              <a:spcBef>
                <a:spcPts val="200"/>
              </a:spcBef>
              <a:defRPr sz="1000">
                <a:solidFill>
                  <a:srgbClr val="F0F5FA"/>
                </a:solidFill>
              </a:defRPr>
            </a:pPr>
            <a:r>
              <a:t>Temps d'accès instantanés pour les professionnels de santé.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713232" cy="713232"/>
          </a:xfrm>
          <a:prstGeom prst="rect">
            <a:avLst/>
          </a:prstGeom>
        </p:spPr>
      </p:pic>
      <p:pic>
        <p:nvPicPr>
          <p:cNvPr id="5" name="Picture 4" descr="logo_di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64592"/>
            <a:ext cx="2283073" cy="7132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91440"/>
            <a:ext cx="76196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7A87"/>
                </a:solidFill>
              </a:defRPr>
            </a:pPr>
            <a:r>
              <a:t>12  •  ENJEUX STRATÉGIQUES</a:t>
            </a:r>
          </a:p>
          <a:p>
            <a:pPr algn="ctr">
              <a:defRPr sz="1700" b="1">
                <a:solidFill>
                  <a:srgbClr val="102A38"/>
                </a:solidFill>
              </a:defRPr>
            </a:pPr>
            <a:r>
              <a:t>DÉFIS ET PERSPECTIVES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Ministère de la Santé, de l'Hygiène Publique et de la CMU  |  Direction de l'Informatique et de la Santé Digitale (DISD)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2057400" cy="4206240"/>
          </a:xfrm>
          <a:prstGeom prst="roundRect">
            <a:avLst/>
          </a:prstGeom>
          <a:solidFill>
            <a:srgbClr val="DC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66444" y="1783080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514600"/>
            <a:ext cx="1837944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RESSOURCES HUMAINES</a:t>
            </a:r>
          </a:p>
          <a:p>
            <a:pPr algn="ctr">
              <a:spcBef>
                <a:spcPts val="400"/>
              </a:spcBef>
              <a:defRPr sz="950">
                <a:solidFill>
                  <a:srgbClr val="F0F5FA"/>
                </a:solidFill>
              </a:defRPr>
            </a:pPr>
            <a:r>
              <a:t>Recrutement et fidélisation d'experts IT qualifiés.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45920"/>
            <a:ext cx="2057400" cy="4206240"/>
          </a:xfrm>
          <a:prstGeom prst="round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06724" y="1783080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8648" y="2514600"/>
            <a:ext cx="1837944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FORMATION CONTINUE</a:t>
            </a:r>
          </a:p>
          <a:p>
            <a:pPr algn="ctr">
              <a:spcBef>
                <a:spcPts val="400"/>
              </a:spcBef>
              <a:defRPr sz="950">
                <a:solidFill>
                  <a:srgbClr val="F0F5FA"/>
                </a:solidFill>
              </a:defRPr>
            </a:pPr>
            <a:r>
              <a:t>Montée en compétences des agents et soignants.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645920"/>
            <a:ext cx="2057400" cy="4206240"/>
          </a:xfrm>
          <a:prstGeom prst="roundRect">
            <a:avLst/>
          </a:prstGeom>
          <a:solidFill>
            <a:srgbClr val="F5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47004" y="1783080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2514600"/>
            <a:ext cx="1837944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MAINTENANCE</a:t>
            </a:r>
          </a:p>
          <a:p>
            <a:pPr algn="ctr">
              <a:spcBef>
                <a:spcPts val="400"/>
              </a:spcBef>
              <a:defRPr sz="950">
                <a:solidFill>
                  <a:srgbClr val="F0F5FA"/>
                </a:solidFill>
              </a:defRPr>
            </a:pPr>
            <a:r>
              <a:t>Maintenance préventive, SLA et pièces de rechange.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1645920"/>
            <a:ext cx="2057400" cy="4206240"/>
          </a:xfrm>
          <a:prstGeom prst="roundRect">
            <a:avLst/>
          </a:prstGeom>
          <a:solidFill>
            <a:srgbClr val="3CA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87284" y="1783080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9208" y="2514600"/>
            <a:ext cx="1837944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INTERCONNEXION</a:t>
            </a:r>
          </a:p>
          <a:p>
            <a:pPr algn="ctr">
              <a:spcBef>
                <a:spcPts val="400"/>
              </a:spcBef>
              <a:defRPr sz="950">
                <a:solidFill>
                  <a:srgbClr val="F0F5FA"/>
                </a:solidFill>
              </a:defRPr>
            </a:pPr>
            <a:r>
              <a:t>Raccordement réseau des centres périphériques.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60" y="1645920"/>
            <a:ext cx="2057400" cy="4206240"/>
          </a:xfrm>
          <a:prstGeom prst="roundRect">
            <a:avLst/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227564" y="1783080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19488" y="2514600"/>
            <a:ext cx="1837944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SÉCURITÉ DONNÉES</a:t>
            </a:r>
          </a:p>
          <a:p>
            <a:pPr algn="ctr">
              <a:spcBef>
                <a:spcPts val="400"/>
              </a:spcBef>
              <a:defRPr sz="950">
                <a:solidFill>
                  <a:srgbClr val="F0F5FA"/>
                </a:solidFill>
              </a:defRPr>
            </a:pPr>
            <a:r>
              <a:t>Conformité PSSI, audits et cyber-résilience continue.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713232" cy="713232"/>
          </a:xfrm>
          <a:prstGeom prst="rect">
            <a:avLst/>
          </a:prstGeom>
        </p:spPr>
      </p:pic>
      <p:pic>
        <p:nvPicPr>
          <p:cNvPr id="5" name="Picture 4" descr="logo_di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64592"/>
            <a:ext cx="2283073" cy="7132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91440"/>
            <a:ext cx="76196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7A87"/>
                </a:solidFill>
              </a:defRPr>
            </a:pPr>
            <a:r>
              <a:t>13  •  MAILLAGE RÉSEAU</a:t>
            </a:r>
          </a:p>
          <a:p>
            <a:pPr algn="ctr">
              <a:defRPr sz="1700" b="1">
                <a:solidFill>
                  <a:srgbClr val="102A38"/>
                </a:solidFill>
              </a:defRPr>
            </a:pPr>
            <a:r>
              <a:t>CONNECTIVITÉ &amp; INTERCONNEXION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Ministère de la Santé, de l'Hygiène Publique et de la CMU  |  Direction de l'Informatique et de la Santé Digitale (DISD)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029200" cy="1280160"/>
          </a:xfrm>
          <a:prstGeom prst="roundRect">
            <a:avLst/>
          </a:prstGeom>
          <a:solidFill>
            <a:srgbClr val="DC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41248" y="1773936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536192"/>
            <a:ext cx="3977640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FIBRE OPTIQUE</a:t>
            </a:r>
          </a:p>
          <a:p>
            <a:pPr>
              <a:spcBef>
                <a:spcPts val="200"/>
              </a:spcBef>
              <a:defRPr sz="1000">
                <a:solidFill>
                  <a:srgbClr val="F0F5FA"/>
                </a:solidFill>
              </a:defRPr>
            </a:pPr>
            <a:r>
              <a:t>Dorsale nationale haut débit pour les CHU &amp; CHR.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63040"/>
            <a:ext cx="5029200" cy="1280160"/>
          </a:xfrm>
          <a:prstGeom prst="round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19088" y="1773936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1536192"/>
            <a:ext cx="3977640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VSAT GOUVERNEMENTAL</a:t>
            </a:r>
          </a:p>
          <a:p>
            <a:pPr>
              <a:spcBef>
                <a:spcPts val="200"/>
              </a:spcBef>
              <a:defRPr sz="1000">
                <a:solidFill>
                  <a:srgbClr val="F0F5FA"/>
                </a:solidFill>
              </a:defRPr>
            </a:pPr>
            <a:r>
              <a:t>Liaisons satellitaires pour les localités enclavées.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17520"/>
            <a:ext cx="5029200" cy="1280160"/>
          </a:xfrm>
          <a:prstGeom prst="roundRect">
            <a:avLst/>
          </a:prstGeom>
          <a:solidFill>
            <a:srgbClr val="F5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8" y="3328416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090672"/>
            <a:ext cx="3977640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INTERNET HAUT DÉBIT</a:t>
            </a:r>
          </a:p>
          <a:p>
            <a:pPr>
              <a:spcBef>
                <a:spcPts val="200"/>
              </a:spcBef>
              <a:defRPr sz="1000">
                <a:solidFill>
                  <a:srgbClr val="F0F5FA"/>
                </a:solidFill>
              </a:defRPr>
            </a:pPr>
            <a:r>
              <a:t>Garantie de bande passante et latence minimale.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017520"/>
            <a:ext cx="5029200" cy="1280160"/>
          </a:xfrm>
          <a:prstGeom prst="roundRect">
            <a:avLst/>
          </a:prstGeom>
          <a:solidFill>
            <a:srgbClr val="3CA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19088" y="3328416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090672"/>
            <a:ext cx="3977640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COUVERTURE 4G</a:t>
            </a:r>
          </a:p>
          <a:p>
            <a:pPr>
              <a:spcBef>
                <a:spcPts val="200"/>
              </a:spcBef>
              <a:defRPr sz="1000">
                <a:solidFill>
                  <a:srgbClr val="F0F5FA"/>
                </a:solidFill>
              </a:defRPr>
            </a:pPr>
            <a:r>
              <a:t>Tablettes terrain et accès mobile pour la collecte.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572000"/>
            <a:ext cx="5029200" cy="1280160"/>
          </a:xfrm>
          <a:prstGeom prst="roundRect">
            <a:avLst/>
          </a:prstGeom>
          <a:solidFill>
            <a:srgbClr val="10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1248" y="4882896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645152"/>
            <a:ext cx="3977640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COÛT DE LA DATA</a:t>
            </a:r>
          </a:p>
          <a:p>
            <a:pPr>
              <a:spcBef>
                <a:spcPts val="200"/>
              </a:spcBef>
              <a:defRPr sz="1000">
                <a:solidFill>
                  <a:srgbClr val="F0F5FA"/>
                </a:solidFill>
              </a:defRPr>
            </a:pPr>
            <a:r>
              <a:t>Tarification préférentielle et partenariats télécoms.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572000"/>
            <a:ext cx="5029200" cy="1280160"/>
          </a:xfrm>
          <a:prstGeom prst="roundRect">
            <a:avLst/>
          </a:prstGeom>
          <a:solidFill>
            <a:srgbClr val="DC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19088" y="4882896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645152"/>
            <a:ext cx="3977640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ALIMENTATION ÉLECTRIQUE</a:t>
            </a:r>
          </a:p>
          <a:p>
            <a:pPr>
              <a:spcBef>
                <a:spcPts val="200"/>
              </a:spcBef>
              <a:defRPr sz="1000">
                <a:solidFill>
                  <a:srgbClr val="F0F5FA"/>
                </a:solidFill>
              </a:defRPr>
            </a:pPr>
            <a:r>
              <a:t>Stabilité du réseau et solutions solaires d'appoint.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713232" cy="713232"/>
          </a:xfrm>
          <a:prstGeom prst="rect">
            <a:avLst/>
          </a:prstGeom>
        </p:spPr>
      </p:pic>
      <p:pic>
        <p:nvPicPr>
          <p:cNvPr id="5" name="Picture 4" descr="logo_di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64592"/>
            <a:ext cx="2283073" cy="7132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91440"/>
            <a:ext cx="76196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7A87"/>
                </a:solidFill>
              </a:defRPr>
            </a:pPr>
            <a:r>
              <a:t>14  •  GOUVERNANCE &amp; CONFIANCE</a:t>
            </a:r>
          </a:p>
          <a:p>
            <a:pPr algn="ctr">
              <a:defRPr sz="1700" b="1">
                <a:solidFill>
                  <a:srgbClr val="102A38"/>
                </a:solidFill>
              </a:defRPr>
            </a:pPr>
            <a:r>
              <a:t>IDENTITÉ, ADOPTION ET SÉCURITÉ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Ministère de la Santé, de l'Hygiène Publique et de la CMU  |  Direction de l'Informatique et de la Santé Digitale (DISD)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2468880" cy="4206240"/>
          </a:xfrm>
          <a:prstGeom prst="roundRect">
            <a:avLst/>
          </a:prstGeom>
          <a:solidFill>
            <a:srgbClr val="DC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55064" y="1783080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14600"/>
            <a:ext cx="2249424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IDENTIFIANT UNIQUE</a:t>
            </a:r>
          </a:p>
          <a:p>
            <a:pPr algn="ctr">
              <a:spcBef>
                <a:spcPts val="400"/>
              </a:spcBef>
              <a:defRPr sz="950">
                <a:solidFill>
                  <a:srgbClr val="F0F5FA"/>
                </a:solidFill>
              </a:defRPr>
            </a:pPr>
            <a:r>
              <a:t>Garantir l'unicité du patient et éviter les doublons.</a:t>
            </a:r>
          </a:p>
          <a:p>
            <a:pPr algn="ctr">
              <a:spcBef>
                <a:spcPts val="600"/>
              </a:spcBef>
              <a:defRPr sz="850" b="1">
                <a:solidFill>
                  <a:srgbClr val="FFFFFF"/>
                </a:solidFill>
              </a:defRPr>
            </a:pPr>
            <a:r>
              <a:t>→ IDENTIFIER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645920"/>
            <a:ext cx="2468880" cy="4206240"/>
          </a:xfrm>
          <a:prstGeom prst="round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98264" y="1783080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2514600"/>
            <a:ext cx="2249424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APPROPRIATION OUTILS</a:t>
            </a:r>
          </a:p>
          <a:p>
            <a:pPr algn="ctr">
              <a:spcBef>
                <a:spcPts val="400"/>
              </a:spcBef>
              <a:defRPr sz="950">
                <a:solidFill>
                  <a:srgbClr val="F0F5FA"/>
                </a:solidFill>
              </a:defRPr>
            </a:pPr>
            <a:r>
              <a:t>Conduite du changement active et accompagnement.</a:t>
            </a:r>
          </a:p>
          <a:p>
            <a:pPr algn="ctr">
              <a:spcBef>
                <a:spcPts val="600"/>
              </a:spcBef>
              <a:defRPr sz="850" b="1">
                <a:solidFill>
                  <a:srgbClr val="FFFFFF"/>
                </a:solidFill>
              </a:defRPr>
            </a:pPr>
            <a:r>
              <a:t>→ ADOPTER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2468880" cy="4206240"/>
          </a:xfrm>
          <a:prstGeom prst="roundRect">
            <a:avLst/>
          </a:prstGeom>
          <a:solidFill>
            <a:srgbClr val="F5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41464" y="1783080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514600"/>
            <a:ext cx="2249424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SÉCURITÉ DES DONNÉES</a:t>
            </a:r>
          </a:p>
          <a:p>
            <a:pPr algn="ctr">
              <a:spcBef>
                <a:spcPts val="400"/>
              </a:spcBef>
              <a:defRPr sz="950">
                <a:solidFill>
                  <a:srgbClr val="F0F5FA"/>
                </a:solidFill>
              </a:defRPr>
            </a:pPr>
            <a:r>
              <a:t>Protection du secret médical, chiffrement &amp; intégrité.</a:t>
            </a:r>
          </a:p>
          <a:p>
            <a:pPr algn="ctr">
              <a:spcBef>
                <a:spcPts val="600"/>
              </a:spcBef>
              <a:defRPr sz="850" b="1">
                <a:solidFill>
                  <a:srgbClr val="FFFFFF"/>
                </a:solidFill>
              </a:defRPr>
            </a:pPr>
            <a:r>
              <a:t>→ SÉCURISER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645920"/>
            <a:ext cx="2468880" cy="4206240"/>
          </a:xfrm>
          <a:prstGeom prst="roundRect">
            <a:avLst/>
          </a:prstGeom>
          <a:solidFill>
            <a:srgbClr val="3CA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84664" y="1783080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0848" y="2514600"/>
            <a:ext cx="2249424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CADRE RÉGLEMENTAIRE</a:t>
            </a:r>
          </a:p>
          <a:p>
            <a:pPr algn="ctr">
              <a:spcBef>
                <a:spcPts val="400"/>
              </a:spcBef>
              <a:defRPr sz="950">
                <a:solidFill>
                  <a:srgbClr val="F0F5FA"/>
                </a:solidFill>
              </a:defRPr>
            </a:pPr>
            <a:r>
              <a:t>Conformité légale aux lois sur les données (ARTCI).</a:t>
            </a:r>
          </a:p>
          <a:p>
            <a:pPr algn="ctr">
              <a:spcBef>
                <a:spcPts val="600"/>
              </a:spcBef>
              <a:defRPr sz="850" b="1">
                <a:solidFill>
                  <a:srgbClr val="FFFFFF"/>
                </a:solidFill>
              </a:defRPr>
            </a:pPr>
            <a:r>
              <a:t>→ ENCADRER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713232" cy="713232"/>
          </a:xfrm>
          <a:prstGeom prst="rect">
            <a:avLst/>
          </a:prstGeom>
        </p:spPr>
      </p:pic>
      <p:pic>
        <p:nvPicPr>
          <p:cNvPr id="5" name="Picture 4" descr="logo_dis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64592"/>
            <a:ext cx="2283073" cy="7132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91440"/>
            <a:ext cx="76196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7A87"/>
                </a:solidFill>
              </a:defRPr>
            </a:pPr>
            <a:r>
              <a:t>15  •  CLÔTURE</a:t>
            </a:r>
          </a:p>
          <a:p>
            <a:pPr algn="ctr">
              <a:defRPr sz="1700" b="1">
                <a:solidFill>
                  <a:srgbClr val="102A38"/>
                </a:solidFill>
              </a:defRPr>
            </a:pPr>
            <a:r>
              <a:t>CONCLUSION &amp; PERSPECTIVES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Ministère de la Santé, de l'Hygiène Publique et de la CMU  |  Direction de l'Informatique et de la Santé Digitale (DISD)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1280160"/>
            <a:ext cx="996696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102A38"/>
                </a:solidFill>
              </a:defRPr>
            </a:pPr>
            <a:r>
              <a:t>« La digitalisation transforme progressivement le système de santé ivoirien.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43200"/>
            <a:ext cx="2468880" cy="2560320"/>
          </a:xfrm>
          <a:prstGeom prst="roundRect">
            <a:avLst/>
          </a:prstGeom>
          <a:solidFill>
            <a:srgbClr val="DC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55064" y="2880360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611880"/>
            <a:ext cx="2249424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ACCÈS À L'INFORMATION</a:t>
            </a:r>
          </a:p>
          <a:p>
            <a:pPr algn="ctr">
              <a:spcBef>
                <a:spcPts val="400"/>
              </a:spcBef>
              <a:defRPr sz="950">
                <a:solidFill>
                  <a:srgbClr val="F0F5FA"/>
                </a:solidFill>
              </a:defRPr>
            </a:pPr>
            <a:r>
              <a:t>Données sanitaires fiables en temps réel pour tous les acteurs.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2743200"/>
            <a:ext cx="2468880" cy="2560320"/>
          </a:xfrm>
          <a:prstGeom prst="round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98264" y="2880360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3611880"/>
            <a:ext cx="2249424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QUALITÉ DES SOINS</a:t>
            </a:r>
          </a:p>
          <a:p>
            <a:pPr algn="ctr">
              <a:spcBef>
                <a:spcPts val="400"/>
              </a:spcBef>
              <a:defRPr sz="950">
                <a:solidFill>
                  <a:srgbClr val="F0F5FA"/>
                </a:solidFill>
              </a:defRPr>
            </a:pPr>
            <a:r>
              <a:t>Prise en charge patient fluidifiée et suivi médical continu.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43200"/>
            <a:ext cx="2468880" cy="2560320"/>
          </a:xfrm>
          <a:prstGeom prst="roundRect">
            <a:avLst/>
          </a:prstGeom>
          <a:solidFill>
            <a:srgbClr val="F5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41464" y="2880360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3611880"/>
            <a:ext cx="2249424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GESTION DU SYSTÈME</a:t>
            </a:r>
          </a:p>
          <a:p>
            <a:pPr algn="ctr">
              <a:spcBef>
                <a:spcPts val="400"/>
              </a:spcBef>
              <a:defRPr sz="950">
                <a:solidFill>
                  <a:srgbClr val="F0F5FA"/>
                </a:solidFill>
              </a:defRPr>
            </a:pPr>
            <a:r>
              <a:t>Efficience accrue des ressources matérielles et humaines.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2743200"/>
            <a:ext cx="2468880" cy="2560320"/>
          </a:xfrm>
          <a:prstGeom prst="roundRect">
            <a:avLst/>
          </a:prstGeom>
          <a:solidFill>
            <a:srgbClr val="3CA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884664" y="2880360"/>
            <a:ext cx="621792" cy="6217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defRPr sz="1500" b="1">
                <a:solidFill>
                  <a:srgbClr val="102A38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0848" y="3611880"/>
            <a:ext cx="2249424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PRISE DE DÉCISION</a:t>
            </a:r>
          </a:p>
          <a:p>
            <a:pPr algn="ctr">
              <a:spcBef>
                <a:spcPts val="400"/>
              </a:spcBef>
              <a:defRPr sz="950">
                <a:solidFill>
                  <a:srgbClr val="F0F5FA"/>
                </a:solidFill>
              </a:defRPr>
            </a:pPr>
            <a:r>
              <a:t>Politiques publiques fondées sur des preuves tangibles.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5577840"/>
            <a:ext cx="9448495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3CA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A532"/>
                </a:solidFill>
              </a:defRPr>
            </a:pPr>
            <a:r>
              <a:t>✨ La réussite du projet repose sur l'engagement et la contribution de tous les acteurs.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