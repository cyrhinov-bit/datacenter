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005840" cy="1005840"/>
          </a:xfrm>
          <a:prstGeom prst="rect">
            <a:avLst/>
          </a:prstGeom>
        </p:spPr>
      </p:pic>
      <p:pic>
        <p:nvPicPr>
          <p:cNvPr id="4" name="Picture 3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548640"/>
            <a:ext cx="3219718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RÉPUBLIQUE DE CÔTE D'IVOIRE — MINISTÈRE DE LA SANTÉ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</a:defRPr>
            </a:pPr>
            <a:r>
              <a:t>PROCESSUS DE DIGITALISATION</a:t>
            </a:r>
          </a:p>
          <a:p>
            <a:pPr>
              <a:spcBef>
                <a:spcPts val="400"/>
              </a:spcBef>
              <a:defRPr sz="2200">
                <a:solidFill>
                  <a:srgbClr val="10B981"/>
                </a:solidFill>
              </a:defRPr>
            </a:pPr>
            <a:r>
              <a:t>du système de santé en Côte d'Ivoire</a:t>
            </a:r>
          </a:p>
          <a:p>
            <a:br/>
            <a:pPr>
              <a:spcBef>
                <a:spcPts val="1600"/>
              </a:spcBef>
              <a:defRPr sz="1300">
                <a:solidFill>
                  <a:srgbClr val="CBD5E1"/>
                </a:solidFill>
              </a:defRPr>
            </a:pPr>
            <a:r>
              <a:t>Présenté par : M. OUATTARA Yacouba</a:t>
            </a:r>
            <a:br/>
            <a:r>
              <a:t>Ingénieur Informaticien</a:t>
            </a:r>
            <a:br/>
            <a:r>
              <a:t>Direction de l'Informatique et de la Santé Digitale (DISD)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566160" cy="4114800"/>
          </a:xfrm>
          <a:prstGeom prst="roundRect">
            <a:avLst/>
          </a:prstGeom>
          <a:solidFill>
            <a:srgbClr val="11224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🏥  TRANSFORMATION DIGITALE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Datacenter National Haute Disponibilité</a:t>
            </a:r>
            <a:br/>
            <a:br/>
            <a:r>
              <a:t>• Interopérabilité des Établissements Hospitaliers</a:t>
            </a:r>
            <a:br/>
            <a:br/>
            <a:r>
              <a:t>• Centralisation et Sécurité des Données Sanitaires</a:t>
            </a:r>
            <a:br/>
            <a:br/>
            <a:r>
              <a:t>• Outils Modernes d'Aide à la Prise de Décision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02 | CONTEXTE STRATÉGIQUE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INTRODUCTION &amp; PILIERS STRATÉGIQUES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371600"/>
            <a:ext cx="9448495" cy="914400"/>
          </a:xfrm>
          <a:prstGeom prst="roundRect">
            <a:avLst/>
          </a:prstGeom>
          <a:solidFill>
            <a:srgbClr val="112240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417320"/>
            <a:ext cx="92656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Depuis 2021, le MSHPCMU accélère l'intégration du numérique dans le Système National d'Information Sanitaire (SNIS).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2468880" cy="32918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💾  Qualité des données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Améliorer la qualité, la fiabilité et la promptitude des statistiques sanitaires collectées.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560320"/>
            <a:ext cx="2468880" cy="32918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6974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📊  Prise de décision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Faciliter le pilotage stratégique et opérationnel basé sur des indicateurs en temps réel.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2468880" cy="32918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6974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🏥  Prise en charge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Fluidifier le parcours patient et optimiser la continuité des soins dans les établissements.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560320"/>
            <a:ext cx="2468880" cy="32918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6974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💻  Modernisation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Moderniser et pérenniser globalement le système d'information de santé national.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03 | INFRASTRUCTURE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LE DATACENTER — CŒUR TECHNIQUE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468880"/>
            <a:ext cx="3200400" cy="2011680"/>
          </a:xfrm>
          <a:prstGeom prst="roundRect">
            <a:avLst/>
          </a:prstGeom>
          <a:solidFill>
            <a:srgbClr val="112240"/>
          </a:solidFill>
          <a:ln w="381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🖥️  DATACENTER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Noyau de Gestion des Données de Santé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34440"/>
            <a:ext cx="3200400" cy="1051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3716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💾  Centraliser les données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Entrepôt unifié national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3291840" cy="11887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🔒  Sécuriser les informations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Confidentialité, résilience et PSSI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926080"/>
            <a:ext cx="3291840" cy="11887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063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⚙️  Déployer des systèmes intégrés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Interopérabilité et communication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709160"/>
            <a:ext cx="3200400" cy="10972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8463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🖥️  Moderniser les outils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Outils de gestion performants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04 | VISION SECTORIELLE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POLITIQUE DE DIGITALISATION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291840" cy="10972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17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🏢  Administration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Pilotage RH, finances et gouvernance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383280" cy="10972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173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🌐  DIGITALISATION GLOBALE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Convergence des deux versants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291840" cy="10972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17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🏥  Offre de soins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Hôpitaux, cliniques et consultations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2468880" cy="3200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8892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💻  Projets &amp; Apps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Déploiement des logiciels hospitaliers et applicatifs métiers.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651760"/>
            <a:ext cx="2468880" cy="3200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278892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🔐  Sécurité des SI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Application rigoureuse de la PSSI et audits de cyberdéfense.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651760"/>
            <a:ext cx="2468880" cy="3200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78892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📁  Archivage Numérique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Gestion électronique des documents (GED) et traçabilité.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651760"/>
            <a:ext cx="2468880" cy="3200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78892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☁️  Données Centralisées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Consolidation nationale pour un pilotage sanitaire continu.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05 | ÉCOSYSTÈME APPLICATIF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TRANSFORMATION DU SNIS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280160"/>
            <a:ext cx="9448495" cy="822960"/>
          </a:xfrm>
          <a:prstGeom prst="roundRect">
            <a:avLst/>
          </a:prstGeom>
          <a:solidFill>
            <a:srgbClr val="112240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325880"/>
            <a:ext cx="92656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🎯 Le SNIS évolue pour rendre les informations sanitaires : DISPONIBLES • FIABLES • ACCESSIBLES À TEMPS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3291840" cy="34747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📊  DHIS2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Collecte globale, agrégation et analyse des données sanitaires et indicateurs nationaux.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377440"/>
            <a:ext cx="3291840" cy="34747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5146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👤  SIGDEP3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Système intégré pour le suivi clinique et biologique individualisé des patients (VIH).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377440"/>
            <a:ext cx="3291840" cy="34747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5146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🧪  OPENELIS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Gestion informatisée des laboratoires de biologie médicale et du circuit des échantillons.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06 | COMPLÉMENTARITÉ MÉTIER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AUTRES SOLUTIONS NUMÉRIQUES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💊  E-SIGL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Gestion logistique intégrée des pharmacies et approvisionnement en intrants stratégiques.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120640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💉  M-SUPPLY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Gestion des stocks et traçabilité de la dispensation des médicaments au comptoir.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5120640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👤  UPID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Identifiant Unique du Patient (notamment sous ARV) pour l'unicité et le suivi longitudinal.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383280"/>
            <a:ext cx="5120640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5204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📋  DPI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Dossier Patient Informatisé pour la continuité des soins et l'historique médical partagé.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303520"/>
            <a:ext cx="7619695" cy="640080"/>
          </a:xfrm>
          <a:prstGeom prst="roundRect">
            <a:avLst/>
          </a:prstGeom>
          <a:solidFill>
            <a:srgbClr val="11224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💡 Des solutions complémentaires au service de la transformation numérique.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07 | SOCLE D'INFRASTRUCTURE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MISE EN ŒUVRE DU DATACENTER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371600"/>
            <a:ext cx="9448495" cy="1188720"/>
          </a:xfrm>
          <a:prstGeom prst="roundRect">
            <a:avLst/>
          </a:prstGeom>
          <a:solidFill>
            <a:srgbClr val="112240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463040"/>
            <a:ext cx="926561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🖥️  INFRASTRUCTURE NATIONALE DE SANTÉ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« Mettre en place une infrastructure centralisée, sécurisée et performante pour accompagner la transformation numérique du système de santé.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3291840" cy="29260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💾  CENTRALISÉ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Consolidation des données et mutualisation des ressources serveur.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926080"/>
            <a:ext cx="3291840" cy="29260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0632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🔒  SÉCURISÉ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Protection maximale, chiffrement et haute résilience contre les sinistres.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926080"/>
            <a:ext cx="3291840" cy="29260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0632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⚡  PERFORMANT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Temps de réponse optimaux et disponibilité continue 24/7.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08 | FEUILLE DE ROUTE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CHRONOLOGIE DE MISE EN ŒUVRE (2021 - 2024)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46888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📄  2021 — Cadrage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Signature des contrats, cadrage institutionnel et passation des marchés.</a:t>
            </a:r>
            <a:br/>
            <a:br/>
            <a:r>
              <a:t>Phase : Préparation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46888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7830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B308"/>
                </a:solidFill>
              </a:defRPr>
            </a:pPr>
            <a:r>
              <a:t>🏗️  2022 — Réalisation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Démarrage des travaux d'aménagement, génie civil et pose des équipements.</a:t>
            </a:r>
            <a:br/>
            <a:br/>
            <a:r>
              <a:t>Phase : Travaux &amp; Équipements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🧪  2023 — Recette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Tests de recette technique en usine, tests de charge et validation sécuritaire.</a:t>
            </a:r>
            <a:br/>
            <a:br/>
            <a:r>
              <a:t>Phase : Tests de Recette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46888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7830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✅  2024 — Service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Réception provisoire des installations et mise en service opérationnelle.</a:t>
            </a:r>
            <a:br/>
            <a:br/>
            <a:r>
              <a:t>Phase : Exploitation 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09 | GALERIE VISUELLE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LE DATACENTER EN IMAGES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29184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📸  Salle Serveurs &amp; Baies IT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Photo 1 : Racks haute densité, connectivité fibre et câblage structuré certifié.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29184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B308"/>
                </a:solidFill>
              </a:defRPr>
            </a:pPr>
            <a:r>
              <a:t>⚡  Énergie &amp; Onduleurs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Photo 2 : Alimentation électrique secourue, redondance N+1 et groupes électrogènes.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9184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🛡️  Supervision &amp; Contrôle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Photo 3 : Poste de monitoring 24/7 et contrôle d'accès biométrique strict.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10 | SPÉCIFICATIONS ÉQUIPEMENTS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INFRASTRUCTURE TECHNIQUE DU DATACENTER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291840" cy="3657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💻  Puissance de Calcul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Serveurs de dernière génération pour exécuter les charges critiques du SNIS.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291840" cy="3657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❄️  Refroidissement de Précision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Climatisation redondante avec confinement des allées chaudes/froides.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91840" cy="36576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🔒  Sécurité Incendie &amp; Physique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Extinction automatique par gaz inerte et détection ultra-précoce des fumées.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11 | VALEUR AJOUTÉE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AU SERVICE DE LA SANTÉ DIGITALE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02920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🛡️  SOCLE DE CONFIANCE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Le Datacenter constitue une infrastructure essentielle pour accompagner le développement des systèmes d'information sanitaires et garantir un service continu aux établissements.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12801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002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💾  Centralisation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Unification complète des bases de données sanitaires nationales.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5212080" cy="12801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1546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🔒  Sécurisation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Chiffrement et conformité stricte aux exigences de cybersécurité.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7091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⚡  Performance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Temps d'accès instantanés pour les professionnels de santé.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12 | ENJEUX STRATÉGIQUES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DÉFIS ET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01168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👥  Ressources Humaines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Recrutement et fidélisation d'experts IT qualifiés.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828800"/>
            <a:ext cx="201168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9659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B308"/>
                </a:solidFill>
              </a:defRPr>
            </a:pPr>
            <a:r>
              <a:t>🎓  Formation Continue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Montée en compétences des agents et du personnel de santé.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828800"/>
            <a:ext cx="201168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9659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🔧  Maintenance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Maintenance préventive, SLA et gestion des pièces de rechange.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201168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9659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🔗  Interconnexion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Raccordement réseau de tous les centres de santé périphériques.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828800"/>
            <a:ext cx="201168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9659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🔒  Sécurité Données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Conformité PSSI, audits réguliers et cyber-résilience continue.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13 | MAILLAGE RÉSEAU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CONNECTIVITÉ &amp; INTERCONNEXION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29184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🌐  Fibre Optique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Dorsale nationale haut débit pour les CHU, CHR et hôpitaux généraux.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29184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🛰️  VSAT Gouvernemental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Liaisons satellitaires pour les localités enclavées.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29184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📡  Internet Haut Débit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Garantie de bande passante et latence minimale.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29184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8619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📱  Couverture 4G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Tablettes terrain et accès mobile pour la collecte décentralisée.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749039"/>
            <a:ext cx="329184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88619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B308"/>
                </a:solidFill>
              </a:defRPr>
            </a:pPr>
            <a:r>
              <a:t>💰  Coût de la Data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Tarification préférentielle et partenariats opérateurs.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749039"/>
            <a:ext cx="329184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88619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⚡  Alimentation Électrique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Stabilité du réseau électrique et solutions solaires d'appoint.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14 | GOUVERNANCE &amp; CONFIANCE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IDENTITÉ, ADOPTION ET SÉCURITÉ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6888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👤  Identifiant Unique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Garantir l'unicité du patient et éviter les doublons dans le système sanitaire.</a:t>
            </a:r>
            <a:br/>
            <a:br/>
            <a:r>
              <a:t>→ IDENTIFIER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46888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👥  Appropriation Outils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Conduite du changement active et accompagnement quotidien des personnels.</a:t>
            </a:r>
            <a:br/>
            <a:br/>
            <a:r>
              <a:t>→ ADOPTER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46888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🔒  Sécurité des Données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Protection absolue du secret médical, contrôle d'accès strict et chiffrement.</a:t>
            </a:r>
            <a:br/>
            <a:br/>
            <a:r>
              <a:t>→ SÉCURISER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828800"/>
            <a:ext cx="2468880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⚖️  Cadre Réglementaire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Conformité légale sur la protection des données personnelles (ARTCI).</a:t>
            </a:r>
            <a:br/>
            <a:br/>
            <a:r>
              <a:t>→ ENCADRER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15 | CLÔTURE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CONCLUSION &amp;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92F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371600"/>
            <a:ext cx="9448495" cy="1463040"/>
          </a:xfrm>
          <a:prstGeom prst="roundRect">
            <a:avLst/>
          </a:prstGeom>
          <a:solidFill>
            <a:srgbClr val="112240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554480"/>
            <a:ext cx="926561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« La digitalisation transforme progressivement le système de santé ivoirien.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246888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📖  Accès à l'Information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Données sanitaires fiables en temps réel pour tous les acteurs.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3108960"/>
            <a:ext cx="246888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2461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🩺  Qualité des Soins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Prise en charge patient fluidifiée et suivi médical continu.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08960"/>
            <a:ext cx="246888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2461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B308"/>
                </a:solidFill>
              </a:defRPr>
            </a:pPr>
            <a:r>
              <a:t>📊  Gestion du Système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Efficience accrue des ressources matérielles et humaines.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108960"/>
            <a:ext cx="246888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32461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🎯  Prise de Décision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Politiques publiques de santé fondées sur des preuves tangibles.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394960"/>
            <a:ext cx="9448495" cy="640080"/>
          </a:xfrm>
          <a:prstGeom prst="roundRect">
            <a:avLst/>
          </a:prstGeom>
          <a:solidFill>
            <a:srgbClr val="11224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✨ La réussite du projet repose sur l'engagement et la contribution de tous les acteurs.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